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6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173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titl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59129" y="3717950"/>
            <a:ext cx="1013703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Swiggy Delivery Time Prediction using Machine Learning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8533181" y="5257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Name: Tejaswi Siddagoni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Innomatics Research Labs – Data Science Program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013" y="105156"/>
            <a:ext cx="5669280" cy="5477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20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Understanding &amp; Problem Statement</a:t>
            </a:r>
            <a:endParaRPr lang="en-US" sz="20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Understanding</a:t>
            </a:r>
            <a:endParaRPr lang="en-US" sz="20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CRISP-ML(Q) Methodology</a:t>
            </a:r>
            <a:endParaRPr lang="en-US" sz="20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Preprocessing &amp; Pipeline Approach</a:t>
            </a:r>
            <a:endParaRPr lang="en-US" sz="20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Building &amp; Comparison</a:t>
            </a:r>
            <a:endParaRPr lang="en-US" sz="20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Hyperparameter Tuning</a:t>
            </a:r>
            <a:endParaRPr lang="en-US" sz="20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Evaluation &amp; Interpretation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35040" y="738835"/>
            <a:ext cx="566928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– Streamlit Web App</a:t>
            </a:r>
            <a:endParaRPr lang="en-US" sz="17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Importance</a:t>
            </a:r>
            <a:endParaRPr lang="en-US" sz="17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Impact</a:t>
            </a:r>
            <a:endParaRPr lang="en-US" sz="17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 &amp; Conclusion</a:t>
            </a:r>
            <a:endParaRPr lang="en-US" sz="1700" dirty="0"/>
          </a:p>
          <a:p>
            <a:pPr marL="342900" indent="-342900">
              <a:lnSpc>
                <a:spcPct val="1900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Q&amp;A</a:t>
            </a:r>
            <a:endParaRPr lang="en-US" sz="1700" dirty="0"/>
          </a:p>
        </p:txBody>
      </p:sp>
      <p:pic>
        <p:nvPicPr>
          <p:cNvPr id="4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141" y="92354"/>
            <a:ext cx="11197742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Understanding &amp; Problem Statement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Problem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Swiggy handles millions of food delivery orders every month. Inaccurate ETAs reduce customer trust, increase cancellations, and raise operational costs.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Machine Learning model that accurately predicts food delivery time so Swiggy can provide reliable ETAs and optimize delivery operations.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Variable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time_taken (Minutes)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Features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Rider Details • Order Details • Vehicle Information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&amp; Traffic Conditions • Location Details • Time Features</a:t>
            </a:r>
            <a:endParaRPr lang="en-US" sz="2800" dirty="0"/>
          </a:p>
        </p:txBody>
      </p:sp>
      <p:pic>
        <p:nvPicPr>
          <p:cNvPr id="3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434" y="2111604"/>
            <a:ext cx="5026297" cy="41006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141" y="92354"/>
            <a:ext cx="1119774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Understanding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dataset contains 45,502 historical delivery records across 26 columns, collected from Swiggy operations.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2141" y="1920240"/>
          <a:ext cx="11155680" cy="3200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Category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Rider Details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Age, Ratings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Vehicle Details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 of Vehicle, Vehicle Condition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 Details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 of Order, Festival, Multiple Deliveries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Weather &amp; Traffic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Weather, Traffic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Location Details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Coordinates, Distance, City Type, City Name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 Details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 Day/Month, Day of Week, Weekend, Pickup Time, Order Hour, Time of Day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141" y="92354"/>
            <a:ext cx="11197742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CRISP-ML(Q) Methodology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Workflow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 follows the CRISP-ML(Q) methodology, a structured framework for developing Machine Learning solutions.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Understanding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Understanding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Preparation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Building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Evaluation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2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&amp; Quality</a:t>
            </a:r>
            <a:endParaRPr lang="en-US" sz="2800" dirty="0"/>
          </a:p>
        </p:txBody>
      </p:sp>
      <p:pic>
        <p:nvPicPr>
          <p:cNvPr id="3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44479" y="565607"/>
            <a:ext cx="463798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kumimoji="0" lang="en-US" alt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281389" y="242442"/>
            <a:ext cx="980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Machine Learning Without Pipeline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281389" y="4535925"/>
            <a:ext cx="105594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was done manually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 could affect preprocessing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of data leakage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chances of mistakes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66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44480" y="842607"/>
            <a:ext cx="316740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kumimoji="0" lang="en-US" alt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Raw </a:t>
            </a:r>
            <a:r>
              <a:rPr lang="en-US" dirty="0"/>
              <a:t>Data</a:t>
            </a:r>
            <a:br>
              <a:rPr lang="en-US" dirty="0"/>
            </a:br>
            <a:r>
              <a:rPr lang="en-US" dirty="0" smtClean="0"/>
              <a:t>     ↓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Train-Test Split</a:t>
            </a:r>
            <a:br>
              <a:rPr lang="en-US" dirty="0"/>
            </a:br>
            <a:r>
              <a:rPr lang="en-US" dirty="0" smtClean="0"/>
              <a:t>    ↓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Column Transformer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↓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Imputation + Encoding + Scaling</a:t>
            </a:r>
            <a:br>
              <a:rPr lang="en-US" dirty="0"/>
            </a:br>
            <a:r>
              <a:rPr lang="en-US" dirty="0" smtClean="0"/>
              <a:t>    ↓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Machine Learning Model</a:t>
            </a:r>
            <a:br>
              <a:rPr lang="en-US" dirty="0"/>
            </a:br>
            <a:r>
              <a:rPr lang="en-US" dirty="0" smtClean="0"/>
              <a:t>    ↓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Prediction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 flipH="1">
            <a:off x="281389" y="242442"/>
            <a:ext cx="980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Machine Learning </a:t>
            </a:r>
            <a:r>
              <a:rPr lang="en-US" alt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With 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Pipeline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281389" y="4535925"/>
            <a:ext cx="105594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Benefits: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Prevents data </a:t>
            </a:r>
            <a:r>
              <a:rPr lang="en-US" dirty="0" smtClean="0"/>
              <a:t>leakage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Automates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Same </a:t>
            </a:r>
            <a:r>
              <a:rPr lang="en-US" dirty="0"/>
              <a:t>process for training and </a:t>
            </a:r>
            <a:r>
              <a:rPr lang="en-US" dirty="0" smtClean="0"/>
              <a:t>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Easy </a:t>
            </a:r>
            <a:r>
              <a:rPr lang="en-US" dirty="0"/>
              <a:t>to </a:t>
            </a:r>
            <a:r>
              <a:rPr lang="en-US" dirty="0" smtClean="0"/>
              <a:t>maintain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Easy </a:t>
            </a:r>
            <a:r>
              <a:rPr lang="en-US" dirty="0"/>
              <a:t>to </a:t>
            </a:r>
            <a:r>
              <a:rPr lang="en-US" dirty="0" smtClean="0"/>
              <a:t>deploy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885" y="565607"/>
            <a:ext cx="5184741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835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141" y="92354"/>
            <a:ext cx="1119774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Building &amp; Comparison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Models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regression algorithms were trained and evaluated using the pipeline built above.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2141" y="1920240"/>
          <a:ext cx="11155680" cy="219456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R² Score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 (min)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3.29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Gradient Boosting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0.748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3.75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Decision Tree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0.635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4.31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0.568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4.92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KNN Regressor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0.529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5.04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12141" y="4434840"/>
            <a:ext cx="1119774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Selected Model: Random Forest Regressor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Handles nonlinear relationships • Robust against overfitting • Strong on structured data • Interpretable via feature importance.</a:t>
            </a:r>
            <a:endParaRPr lang="en-US" sz="1500" dirty="0"/>
          </a:p>
        </p:txBody>
      </p:sp>
      <p:pic>
        <p:nvPicPr>
          <p:cNvPr id="5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141" y="92354"/>
            <a:ext cx="11197742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Hyperparameter Tuning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Hyperparameter Optimization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was tuned using Optuna with 5-fold cross-validation R² as the objective.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Parameters Tuned</a:t>
            </a:r>
            <a:endParaRPr lang="en-US" sz="2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n_estimators (100–300)  •  max_depth (5–30)  •  min_samples_split (2–10)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Parameters Found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n_estimators = 210, max_depth = 13, min_samples_split = 8  (Best CV R² = 0.801)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</a:t>
            </a:r>
            <a:endParaRPr lang="en-US" sz="2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R² improved from 0.803 (baseline) to 0.807 after tuning.</a:t>
            </a:r>
            <a:endParaRPr lang="en-US" sz="2800" dirty="0"/>
          </a:p>
        </p:txBody>
      </p:sp>
      <p:pic>
        <p:nvPicPr>
          <p:cNvPr id="3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141" y="92354"/>
            <a:ext cx="1119774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Evaluation &amp; Interpretation</a:t>
            </a:r>
            <a:endParaRPr lang="en-US" sz="2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Evaluation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tuned Random Forest Regressor was evaluated on the held-out test set.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2141" y="1920240"/>
          <a:ext cx="11155680" cy="21945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Evaluation Metric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Interpretation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 Absolute Error (MAE)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3.26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Predictions differ from actual by ~3.26 minutes on average.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Root Mean Squared Error (RMSE)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4.12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Predictions deviate ~4.12 minutes on average.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R² Score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0.807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Explains ~81% of the variation in delivery time.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12141" y="4114800"/>
            <a:ext cx="1119774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R² = 0.858 vs. Testing R² = 0.807 (gap ≈ 0.05) — indicates mild but acceptable overfitting. The tuned Random Forest performs well and is suitable for real-world delivery-time estimation.</a:t>
            </a:r>
            <a:endParaRPr lang="en-US" sz="1500" dirty="0"/>
          </a:p>
        </p:txBody>
      </p:sp>
      <p:pic>
        <p:nvPicPr>
          <p:cNvPr id="5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141" y="92354"/>
            <a:ext cx="11197742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 – Streamlit Web App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Notebook to Live App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final tuned pipeline (preprocessing + Random Forest model) was serialized with pickle as swiggy_pipeline.pkl and loaded into a Streamlit app (app.py) for real-time predictions.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 Inputs</a:t>
            </a:r>
            <a:endParaRPr lang="en-US" sz="2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Rider details: age, rating, vehicle condition, vehicle type, multiple deliveries</a:t>
            </a:r>
            <a:endParaRPr lang="en-US" sz="2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details: order type, festival</a:t>
            </a:r>
            <a:endParaRPr lang="en-US" sz="2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Location: restaurant &amp; delivery coordinates (auto-computes distance via Haversine formula)</a:t>
            </a:r>
            <a:endParaRPr lang="en-US" sz="28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&amp; conditions: weather, traffic, order date, order hour, pickup time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Output</a:t>
            </a:r>
            <a:endParaRPr lang="en-US" sz="2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Estimated delivery time</a:t>
            </a:r>
            <a:r>
              <a:rPr lang="en-US" sz="140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r>
              <a:rPr lang="en-US" sz="1400" smtClean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24.7 </a:t>
            </a: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minutes  —  returned instantly after clicking “Predict delivery time.”</a:t>
            </a:r>
            <a:endParaRPr lang="en-US" sz="2800" dirty="0"/>
          </a:p>
        </p:txBody>
      </p:sp>
      <p:pic>
        <p:nvPicPr>
          <p:cNvPr id="3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626" y="2087289"/>
            <a:ext cx="3384222" cy="37685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141" y="92354"/>
            <a:ext cx="11197742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Impact</a:t>
            </a:r>
            <a:endParaRPr lang="en-US" sz="2800" dirty="0"/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Benefits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600" dirty="0" smtClean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Smarter </a:t>
            </a: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demand forecasting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Reduced order cancellations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Better rider scheduling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Personalized customer experience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Data-driven delivery planning</a:t>
            </a:r>
            <a:endParaRPr lang="en-US" sz="2800" dirty="0"/>
          </a:p>
        </p:txBody>
      </p:sp>
      <p:pic>
        <p:nvPicPr>
          <p:cNvPr id="3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331016"/>
            <a:ext cx="7098383" cy="53449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141" y="92354"/>
            <a:ext cx="11197742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 &amp; Conclusion</a:t>
            </a:r>
            <a:endParaRPr lang="en-US" sz="2800" dirty="0"/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 live traffic and weather APIs; use Google Maps API for real-time distance and ETA.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GPS-based rider tracking; cloud deployment on AWS or Azure.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 with gradient boosting variants such as XGBoost or LightGBM for further accuracy gains.</a:t>
            </a:r>
            <a:endParaRPr lang="en-US" sz="2800" dirty="0"/>
          </a:p>
          <a:p>
            <a:pPr marL="0" indent="0" algn="just">
              <a:lnSpc>
                <a:spcPct val="2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 leakage-free Scikit-learn pipeline and compared 5 regression algorithms.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and tuned Random Forest with Optuna — achieved test R² of 0.807.</a:t>
            </a:r>
            <a:endParaRPr lang="en-US" sz="2800" dirty="0"/>
          </a:p>
          <a:p>
            <a:pPr marL="342900" indent="-342900" algn="just">
              <a:lnSpc>
                <a:spcPct val="20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Deployed the model as a live Streamlit web application for real-time predictions.</a:t>
            </a:r>
            <a:endParaRPr lang="en-US" sz="2800" dirty="0"/>
          </a:p>
        </p:txBody>
      </p:sp>
      <p:pic>
        <p:nvPicPr>
          <p:cNvPr id="3" name="Image 0" descr="/home/claude/work/assets/foot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qna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737360"/>
            <a:ext cx="4114800" cy="3291840"/>
          </a:xfrm>
          <a:prstGeom prst="rect">
            <a:avLst/>
          </a:prstGeom>
        </p:spPr>
      </p:pic>
      <p:pic>
        <p:nvPicPr>
          <p:cNvPr id="3" name="Image 1" descr="/home/claude/work/assets/foote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722" y="1850746"/>
            <a:ext cx="4465930" cy="2834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4498" y="2997403"/>
            <a:ext cx="4114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pic>
        <p:nvPicPr>
          <p:cNvPr id="4" name="Image 1" descr="/home/claude/work/assets/footer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0189" y="6311189"/>
            <a:ext cx="2451506" cy="545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869</Words>
  <Application>Microsoft Office PowerPoint</Application>
  <PresentationFormat>Widescreen</PresentationFormat>
  <Paragraphs>165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Hello</cp:lastModifiedBy>
  <cp:revision>9</cp:revision>
  <dcterms:created xsi:type="dcterms:W3CDTF">2026-09-03T08:08:27Z</dcterms:created>
  <dcterms:modified xsi:type="dcterms:W3CDTF">2026-09-03T16:41:43Z</dcterms:modified>
</cp:coreProperties>
</file>